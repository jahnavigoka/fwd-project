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0"/>
  </p:notesMasterIdLst>
  <p:handoutMasterIdLst>
    <p:handoutMasterId r:id="rId21"/>
  </p:handoutMasterIdLst>
  <p:sldIdLst>
    <p:sldId id="314" r:id="rId3"/>
    <p:sldId id="322" r:id="rId4"/>
    <p:sldId id="323" r:id="rId5"/>
    <p:sldId id="266" r:id="rId6"/>
    <p:sldId id="341" r:id="rId7"/>
    <p:sldId id="342" r:id="rId8"/>
    <p:sldId id="343" r:id="rId9"/>
    <p:sldId id="349" r:id="rId10"/>
    <p:sldId id="350" r:id="rId11"/>
    <p:sldId id="345" r:id="rId12"/>
    <p:sldId id="346" r:id="rId13"/>
    <p:sldId id="340" r:id="rId14"/>
    <p:sldId id="353" r:id="rId15"/>
    <p:sldId id="354" r:id="rId16"/>
    <p:sldId id="347" r:id="rId17"/>
    <p:sldId id="348" r:id="rId18"/>
    <p:sldId id="33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93" d="100"/>
          <a:sy n="93" d="100"/>
        </p:scale>
        <p:origin x="91" y="125"/>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324193" y="89451"/>
            <a:ext cx="11543614" cy="1128381"/>
          </a:xfrm>
        </p:spPr>
        <p:txBody>
          <a:bodyPr>
            <a:noAutofit/>
          </a:bodyPr>
          <a:lstStyle/>
          <a:p>
            <a:pPr algn="ctr">
              <a:lnSpc>
                <a:spcPct val="100000"/>
              </a:lnSpc>
            </a:pPr>
            <a:r>
              <a:rPr lang="en-US" sz="2800" dirty="0">
                <a:solidFill>
                  <a:srgbClr val="0070C0"/>
                </a:solidFill>
                <a:latin typeface="+mn-lt"/>
                <a:cs typeface="Arial" panose="020B0604020202020204" pitchFamily="34" charset="0"/>
              </a:rPr>
              <a:t>Title: SMART COLLEGE CANTEEN PRE-ORDER SYSTEM</a:t>
            </a:r>
            <a:endParaRPr lang="en-US" sz="28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G Jahnavi</a:t>
            </a:r>
          </a:p>
          <a:p>
            <a:pPr marL="0" indent="0" algn="ctr">
              <a:buNone/>
            </a:pPr>
            <a:r>
              <a:rPr lang="en-US" sz="9600" dirty="0"/>
              <a:t>Student ID: 2520030483</a:t>
            </a:r>
            <a:endParaRPr lang="en-US" sz="2400" dirty="0"/>
          </a:p>
          <a:p>
            <a:pPr marL="0" indent="0" algn="ctr">
              <a:buNone/>
            </a:pPr>
            <a:r>
              <a:rPr lang="en-US" sz="11200" dirty="0"/>
              <a:t>Cluster: 4</a:t>
            </a:r>
          </a:p>
          <a:p>
            <a:pPr marL="0" indent="0" algn="ctr">
              <a:buNone/>
            </a:pPr>
            <a:r>
              <a:rPr lang="en-US" sz="11200" dirty="0"/>
              <a:t>Section: 14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27944" y="5058242"/>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496264"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NM DEEPIKA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838200" y="104637"/>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780534" y="1232646"/>
            <a:ext cx="10573265" cy="4560071"/>
          </a:xfrm>
        </p:spPr>
        <p:txBody>
          <a:bodyPr>
            <a:noAutofit/>
          </a:bodyPr>
          <a:lstStyle/>
          <a:p>
            <a:pPr marL="0" indent="0">
              <a:lnSpc>
                <a:spcPct val="100000"/>
              </a:lnSpc>
              <a:buNone/>
            </a:pPr>
            <a:r>
              <a:rPr lang="en-US" sz="2200" dirty="0">
                <a:latin typeface="Times New Roman" panose="02020603050405020304" pitchFamily="18" charset="0"/>
                <a:cs typeface="Times New Roman" panose="02020603050405020304" pitchFamily="18" charset="0"/>
              </a:rPr>
              <a:t>The Smart College Canteen Pre-Order System is a web-based application developed to improve the efficiency and convenience of ordering food in college canteens. The system allows students to view the available menu, select food items, and place orders online before reaching the canteen. It includes features such as user login and registration, categorized menu display, cart management, digital token generation, and QR-based payment support. The application is built using web technologies such as HTML, CSS, and JavaScript to create an interactive and user-friendly interface. </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Additionally, the system provides an order summary and live queue tracking so that students can monitor the status of their orders. The system also helps canteen staff manage orders more efficiently and reduces crowding at the service counter. By integrating digital ordering, payment, and queue tracking, the Smart College Canteen Pre-Order System enhances the overall dining experience and modernizes the traditional canteen management process.</a:t>
            </a:r>
          </a:p>
          <a:p>
            <a:pPr marL="0" indent="0">
              <a:lnSpc>
                <a:spcPct val="100000"/>
              </a:lnSpc>
              <a:buNone/>
            </a:pP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692251" y="19137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271849" y="1442950"/>
            <a:ext cx="11491783" cy="5114367"/>
          </a:xfrm>
        </p:spPr>
        <p:txBody>
          <a:bodyPr>
            <a:normAutofit/>
          </a:bodyPr>
          <a:lstStyle/>
          <a:p>
            <a:pPr marL="460375" lvl="1" indent="-342900" algn="just">
              <a:lnSpc>
                <a:spcPct val="100000"/>
              </a:lnSpc>
            </a:pPr>
            <a:r>
              <a:rPr lang="en-US" dirty="0">
                <a:latin typeface="Times New Roman" panose="02020603050405020304" pitchFamily="18" charset="0"/>
                <a:cs typeface="Times New Roman" panose="02020603050405020304" pitchFamily="18" charset="0"/>
              </a:rPr>
              <a:t>In the traditional college canteen system, food ordering is usually done manually at the counter where students must stand in long queues to place their orders and make payments. </a:t>
            </a:r>
          </a:p>
          <a:p>
            <a:pPr marL="460375" lvl="1" indent="-342900" algn="just">
              <a:lnSpc>
                <a:spcPct val="100000"/>
              </a:lnSpc>
            </a:pPr>
            <a:r>
              <a:rPr lang="en-US" dirty="0">
                <a:latin typeface="Times New Roman" panose="02020603050405020304" pitchFamily="18" charset="0"/>
                <a:cs typeface="Times New Roman" panose="02020603050405020304" pitchFamily="18" charset="0"/>
              </a:rPr>
              <a:t>During peak hours such as lunch breaks, this often leads to overcrowding, delays, and inefficient service. </a:t>
            </a:r>
          </a:p>
          <a:p>
            <a:pPr marL="460375" lvl="1" indent="-342900" algn="just">
              <a:lnSpc>
                <a:spcPct val="100000"/>
              </a:lnSpc>
            </a:pPr>
            <a:r>
              <a:rPr lang="en-US" dirty="0">
                <a:latin typeface="Times New Roman" panose="02020603050405020304" pitchFamily="18" charset="0"/>
                <a:cs typeface="Times New Roman" panose="02020603050405020304" pitchFamily="18" charset="0"/>
              </a:rPr>
              <a:t>The manual process also increases the chances of order mistakes, miscommunication between staff and students, and difficulty in managing multiple orders simultaneously. </a:t>
            </a:r>
          </a:p>
          <a:p>
            <a:pPr marL="460375" lvl="1" indent="-342900" algn="just">
              <a:lnSpc>
                <a:spcPct val="100000"/>
              </a:lnSpc>
            </a:pPr>
            <a:r>
              <a:rPr lang="en-US" dirty="0">
                <a:latin typeface="Times New Roman" panose="02020603050405020304" pitchFamily="18" charset="0"/>
                <a:cs typeface="Times New Roman" panose="02020603050405020304" pitchFamily="18" charset="0"/>
              </a:rPr>
              <a:t>Additionally, there is no proper system to track order status, which causes confusion and unnecessary waiting time for students.</a:t>
            </a:r>
          </a:p>
          <a:p>
            <a:pPr marL="460375" lvl="1" indent="-342900" algn="just">
              <a:lnSpc>
                <a:spcPct val="100000"/>
              </a:lnSpc>
            </a:pPr>
            <a:r>
              <a:rPr lang="en-US" dirty="0">
                <a:latin typeface="Times New Roman" panose="02020603050405020304" pitchFamily="18" charset="0"/>
                <a:cs typeface="Times New Roman" panose="02020603050405020304" pitchFamily="18" charset="0"/>
              </a:rPr>
              <a:t> Overall, the existing system lacks automation, time efficiency, and effective order management.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745799" y="235218"/>
            <a:ext cx="10173182" cy="856735"/>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486032" y="1235354"/>
            <a:ext cx="11186984" cy="4834195"/>
          </a:xfrm>
        </p:spPr>
        <p:txBody>
          <a:bodyPr>
            <a:normAutofit/>
          </a:bodyPr>
          <a:lstStyle/>
          <a:p>
            <a:pPr>
              <a:lnSpc>
                <a:spcPct val="100000"/>
              </a:lnSpc>
            </a:pPr>
            <a:r>
              <a:rPr lang="en-US" sz="2400" dirty="0">
                <a:latin typeface="Times New Roman" panose="02020603050405020304" pitchFamily="18" charset="0"/>
                <a:cs typeface="Times New Roman" panose="02020603050405020304" pitchFamily="18" charset="0"/>
              </a:rPr>
              <a:t>The proposed Smart College Canteen Pre-Order System is a web-based solution designed to modernize the food ordering process in college canteens.</a:t>
            </a:r>
          </a:p>
          <a:p>
            <a:pPr>
              <a:lnSpc>
                <a:spcPct val="100000"/>
              </a:lnSpc>
            </a:pPr>
            <a:r>
              <a:rPr lang="en-US" sz="2400" dirty="0">
                <a:latin typeface="Times New Roman" panose="02020603050405020304" pitchFamily="18" charset="0"/>
                <a:cs typeface="Times New Roman" panose="02020603050405020304" pitchFamily="18" charset="0"/>
              </a:rPr>
              <a:t> In this system, students can log in, view the digital menu, select food items, and place their orders online in advance. </a:t>
            </a:r>
          </a:p>
          <a:p>
            <a:pPr>
              <a:lnSpc>
                <a:spcPct val="100000"/>
              </a:lnSpc>
            </a:pPr>
            <a:r>
              <a:rPr lang="en-US" sz="2400" dirty="0">
                <a:latin typeface="Times New Roman" panose="02020603050405020304" pitchFamily="18" charset="0"/>
                <a:cs typeface="Times New Roman" panose="02020603050405020304" pitchFamily="18" charset="0"/>
              </a:rPr>
              <a:t>The system generates a digital token for each order and allows students to track the status of their order in a live queue, reducing the need to wait in long lines. </a:t>
            </a:r>
          </a:p>
          <a:p>
            <a:pPr>
              <a:lnSpc>
                <a:spcPct val="100000"/>
              </a:lnSpc>
            </a:pPr>
            <a:r>
              <a:rPr lang="en-US" sz="2400" dirty="0">
                <a:latin typeface="Times New Roman" panose="02020603050405020304" pitchFamily="18" charset="0"/>
                <a:cs typeface="Times New Roman" panose="02020603050405020304" pitchFamily="18" charset="0"/>
              </a:rPr>
              <a:t>It also supports digital payments using QR codes and provides an order summary for better transparency. </a:t>
            </a:r>
          </a:p>
          <a:p>
            <a:pPr>
              <a:lnSpc>
                <a:spcPct val="100000"/>
              </a:lnSpc>
            </a:pPr>
            <a:r>
              <a:rPr lang="en-US" sz="2400" dirty="0">
                <a:latin typeface="Times New Roman" panose="02020603050405020304" pitchFamily="18" charset="0"/>
                <a:cs typeface="Times New Roman" panose="02020603050405020304" pitchFamily="18" charset="0"/>
              </a:rPr>
              <a:t>By automating the ordering and queue management process, the proposed system improves efficiency, reduces crowding, and enhances the overall experience for both students and canteen staff.</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596398" y="182394"/>
            <a:ext cx="8517946" cy="638509"/>
          </a:xfrm>
        </p:spPr>
        <p:txBody>
          <a:bodyPr>
            <a:normAutofit fontScale="90000"/>
          </a:bodyPr>
          <a:lstStyle/>
          <a:p>
            <a:pPr algn="ctr"/>
            <a:r>
              <a:rPr lang="en-US" b="1" dirty="0"/>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10" name="Content Placeholder 9">
            <a:extLst>
              <a:ext uri="{FF2B5EF4-FFF2-40B4-BE49-F238E27FC236}">
                <a16:creationId xmlns:a16="http://schemas.microsoft.com/office/drawing/2014/main" id="{8469C717-7863-F9FD-9644-E6FB891B0438}"/>
              </a:ext>
            </a:extLst>
          </p:cNvPr>
          <p:cNvPicPr>
            <a:picLocks noGrp="1" noChangeAspect="1"/>
          </p:cNvPicPr>
          <p:nvPr>
            <p:ph idx="1"/>
          </p:nvPr>
        </p:nvPicPr>
        <p:blipFill>
          <a:blip r:embed="rId2"/>
          <a:stretch>
            <a:fillRect/>
          </a:stretch>
        </p:blipFill>
        <p:spPr>
          <a:xfrm>
            <a:off x="2209800" y="845747"/>
            <a:ext cx="7653467" cy="5423248"/>
          </a:xfrm>
          <a:prstGeom prst="rect">
            <a:avLst/>
          </a:prstGeom>
        </p:spPr>
      </p:pic>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838200" y="1365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714632" y="1483806"/>
            <a:ext cx="10762735" cy="4589565"/>
          </a:xfrm>
        </p:spPr>
        <p:txBody>
          <a:bodyPr>
            <a:normAutofit fontScale="62500" lnSpcReduction="20000"/>
          </a:bodyPr>
          <a:lstStyle/>
          <a:p>
            <a:pPr marL="0" indent="0">
              <a:lnSpc>
                <a:spcPct val="120000"/>
              </a:lnSpc>
              <a:buNone/>
            </a:pPr>
            <a:r>
              <a:rPr lang="en-US" sz="3400" b="1" dirty="0">
                <a:latin typeface="Times New Roman" panose="02020603050405020304" pitchFamily="18" charset="0"/>
                <a:cs typeface="Times New Roman" panose="02020603050405020304" pitchFamily="18" charset="0"/>
              </a:rPr>
              <a:t>1. Authentication Module</a:t>
            </a:r>
            <a:br>
              <a:rPr lang="en-US" sz="3400" dirty="0">
                <a:latin typeface="Times New Roman" panose="02020603050405020304" pitchFamily="18" charset="0"/>
                <a:cs typeface="Times New Roman" panose="02020603050405020304" pitchFamily="18" charset="0"/>
              </a:rPr>
            </a:br>
            <a:r>
              <a:rPr lang="en-US" sz="3400" dirty="0">
                <a:latin typeface="Times New Roman" panose="02020603050405020304" pitchFamily="18" charset="0"/>
                <a:cs typeface="Times New Roman" panose="02020603050405020304" pitchFamily="18" charset="0"/>
              </a:rPr>
              <a:t>This module manages user login and registration by accepting user credentials such as email and password. The entered data is validated and stored using local Storage for basic user authentication. After successful verification, the system grants access to the application by creating a session or access token.</a:t>
            </a:r>
          </a:p>
          <a:p>
            <a:pPr marL="0" indent="0">
              <a:lnSpc>
                <a:spcPct val="120000"/>
              </a:lnSpc>
              <a:buNone/>
            </a:pPr>
            <a:r>
              <a:rPr lang="en-US" sz="3400" b="1" dirty="0">
                <a:latin typeface="Times New Roman" panose="02020603050405020304" pitchFamily="18" charset="0"/>
                <a:cs typeface="Times New Roman" panose="02020603050405020304" pitchFamily="18" charset="0"/>
              </a:rPr>
              <a:t>2. Menu Module</a:t>
            </a:r>
            <a:br>
              <a:rPr lang="en-US" sz="3400" dirty="0">
                <a:latin typeface="Times New Roman" panose="02020603050405020304" pitchFamily="18" charset="0"/>
                <a:cs typeface="Times New Roman" panose="02020603050405020304" pitchFamily="18" charset="0"/>
              </a:rPr>
            </a:br>
            <a:r>
              <a:rPr lang="en-US" sz="3400" dirty="0">
                <a:latin typeface="Times New Roman" panose="02020603050405020304" pitchFamily="18" charset="0"/>
                <a:cs typeface="Times New Roman" panose="02020603050405020304" pitchFamily="18" charset="0"/>
              </a:rPr>
              <a:t>The menu module displays all available food items for the user to browse and select. When the user clicks on items, the system retrieves the details from a JavaScript object containing menu data. Based on user selections, the cart state is updated dynamically.</a:t>
            </a:r>
          </a:p>
          <a:p>
            <a:pPr marL="0" indent="0">
              <a:lnSpc>
                <a:spcPct val="120000"/>
              </a:lnSpc>
              <a:buNone/>
            </a:pPr>
            <a:r>
              <a:rPr lang="en-US" sz="3400" b="1" dirty="0">
                <a:latin typeface="Times New Roman" panose="02020603050405020304" pitchFamily="18" charset="0"/>
                <a:cs typeface="Times New Roman" panose="02020603050405020304" pitchFamily="18" charset="0"/>
              </a:rPr>
              <a:t>3. Cart Module</a:t>
            </a:r>
            <a:br>
              <a:rPr lang="en-US" sz="3400" dirty="0">
                <a:latin typeface="Times New Roman" panose="02020603050405020304" pitchFamily="18" charset="0"/>
                <a:cs typeface="Times New Roman" panose="02020603050405020304" pitchFamily="18" charset="0"/>
              </a:rPr>
            </a:br>
            <a:r>
              <a:rPr lang="en-US" sz="3400" dirty="0">
                <a:latin typeface="Times New Roman" panose="02020603050405020304" pitchFamily="18" charset="0"/>
                <a:cs typeface="Times New Roman" panose="02020603050405020304" pitchFamily="18" charset="0"/>
              </a:rPr>
              <a:t>This module manages the items selected by the user and their quantities. The selected items are stored in an </a:t>
            </a:r>
            <a:r>
              <a:rPr lang="en-US" sz="3400" b="1" dirty="0">
                <a:latin typeface="Times New Roman" panose="02020603050405020304" pitchFamily="18" charset="0"/>
                <a:cs typeface="Times New Roman" panose="02020603050405020304" pitchFamily="18" charset="0"/>
              </a:rPr>
              <a:t>array of objects</a:t>
            </a:r>
            <a:r>
              <a:rPr lang="en-US" sz="3400" dirty="0">
                <a:latin typeface="Times New Roman" panose="02020603050405020304" pitchFamily="18" charset="0"/>
                <a:cs typeface="Times New Roman" panose="02020603050405020304" pitchFamily="18" charset="0"/>
              </a:rPr>
              <a:t>, where each object contains item name, price, and quantity. The system automatically calculates and displays the grand total for the order.</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86AFB-EA14-EABC-DBC6-3F75395A0777}"/>
              </a:ext>
            </a:extLst>
          </p:cNvPr>
          <p:cNvSpPr>
            <a:spLocks noGrp="1"/>
          </p:cNvSpPr>
          <p:nvPr>
            <p:ph type="title"/>
          </p:nvPr>
        </p:nvSpPr>
        <p:spPr/>
        <p:txBody>
          <a:bodyPr/>
          <a:lstStyle/>
          <a:p>
            <a:pPr algn="ctr"/>
            <a:r>
              <a:rPr lang="en-US" b="1" dirty="0"/>
              <a:t>Project Modules</a:t>
            </a:r>
            <a:endParaRPr lang="en-IN" dirty="0"/>
          </a:p>
        </p:txBody>
      </p:sp>
      <p:sp>
        <p:nvSpPr>
          <p:cNvPr id="3" name="Content Placeholder 2">
            <a:extLst>
              <a:ext uri="{FF2B5EF4-FFF2-40B4-BE49-F238E27FC236}">
                <a16:creationId xmlns:a16="http://schemas.microsoft.com/office/drawing/2014/main" id="{9EF192F7-9FAB-B32A-4F11-63447A28E590}"/>
              </a:ext>
            </a:extLst>
          </p:cNvPr>
          <p:cNvSpPr>
            <a:spLocks noGrp="1"/>
          </p:cNvSpPr>
          <p:nvPr>
            <p:ph idx="1"/>
          </p:nvPr>
        </p:nvSpPr>
        <p:spPr/>
        <p:txBody>
          <a:bodyPr>
            <a:normAutofit/>
          </a:bodyPr>
          <a:lstStyle/>
          <a:p>
            <a:pPr marL="0" indent="0">
              <a:lnSpc>
                <a:spcPct val="100000"/>
              </a:lnSpc>
              <a:buNone/>
            </a:pPr>
            <a:r>
              <a:rPr lang="en-US" sz="2400" b="1" dirty="0">
                <a:latin typeface="Times New Roman" panose="02020603050405020304" pitchFamily="18" charset="0"/>
                <a:cs typeface="Times New Roman" panose="02020603050405020304" pitchFamily="18" charset="0"/>
              </a:rPr>
              <a:t>4</a:t>
            </a:r>
            <a:r>
              <a:rPr lang="en-US" sz="2200" b="1" dirty="0">
                <a:latin typeface="Times New Roman" panose="02020603050405020304" pitchFamily="18" charset="0"/>
                <a:cs typeface="Times New Roman" panose="02020603050405020304" pitchFamily="18" charset="0"/>
              </a:rPr>
              <a:t>. Payment Module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The payment module allows users to complete transactions by scanning a QR code or clicking the payment confirmation button. Payment details and order confirmation are temporarily stored using local Storage. After successful payment, the system generates a unique token number (e.g., ST-123) for the order.</a:t>
            </a:r>
          </a:p>
          <a:p>
            <a:pPr marL="0" indent="0">
              <a:lnSpc>
                <a:spcPct val="100000"/>
              </a:lnSpc>
              <a:buNone/>
            </a:pPr>
            <a:r>
              <a:rPr lang="en-US" sz="2200" b="1" dirty="0">
                <a:latin typeface="Times New Roman" panose="02020603050405020304" pitchFamily="18" charset="0"/>
                <a:cs typeface="Times New Roman" panose="02020603050405020304" pitchFamily="18" charset="0"/>
              </a:rPr>
              <a:t>5. Queue Module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The queue module manages order processing after payment is completed. The generated token ID is stored in memory and used to track the order in the preparation queue. Once the order is prepared, the system updates the status and shows a “Ready” notification to the user.</a:t>
            </a:r>
          </a:p>
          <a:p>
            <a:endParaRPr lang="en-IN" dirty="0"/>
          </a:p>
        </p:txBody>
      </p:sp>
      <p:sp>
        <p:nvSpPr>
          <p:cNvPr id="4" name="Date Placeholder 3">
            <a:extLst>
              <a:ext uri="{FF2B5EF4-FFF2-40B4-BE49-F238E27FC236}">
                <a16:creationId xmlns:a16="http://schemas.microsoft.com/office/drawing/2014/main" id="{F6F6A782-7089-4590-5E1D-AE9956EF7DAC}"/>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13978275-6F06-A91F-02F7-49DCF908DED6}"/>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D40ACA5D-C484-B8AA-877F-2F6288E6E0D1}"/>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3578832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AE91E-E31F-6CA3-EFC1-4288F7CA56DD}"/>
              </a:ext>
            </a:extLst>
          </p:cNvPr>
          <p:cNvSpPr>
            <a:spLocks noGrp="1"/>
          </p:cNvSpPr>
          <p:nvPr>
            <p:ph type="title"/>
          </p:nvPr>
        </p:nvSpPr>
        <p:spPr>
          <a:xfrm>
            <a:off x="646671" y="55113"/>
            <a:ext cx="10515600" cy="1325563"/>
          </a:xfrm>
        </p:spPr>
        <p:txBody>
          <a:bodyPr/>
          <a:lstStyle/>
          <a:p>
            <a:pPr algn="ctr"/>
            <a:r>
              <a:rPr lang="en-IN" b="1" dirty="0"/>
              <a:t>Objectives</a:t>
            </a:r>
          </a:p>
        </p:txBody>
      </p:sp>
      <p:sp>
        <p:nvSpPr>
          <p:cNvPr id="4" name="Date Placeholder 3">
            <a:extLst>
              <a:ext uri="{FF2B5EF4-FFF2-40B4-BE49-F238E27FC236}">
                <a16:creationId xmlns:a16="http://schemas.microsoft.com/office/drawing/2014/main" id="{DC049710-0DE6-4D18-AE55-00DB5BE453E7}"/>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FEE7A23-3543-4886-2831-3FA43F81ADAC}"/>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35652D05-1F9D-D9F1-351E-E44F172A01C2}"/>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7" name="Rectangle 1">
            <a:extLst>
              <a:ext uri="{FF2B5EF4-FFF2-40B4-BE49-F238E27FC236}">
                <a16:creationId xmlns:a16="http://schemas.microsoft.com/office/drawing/2014/main" id="{0EFF2AF0-FA6A-F9DD-931F-374122478274}"/>
              </a:ext>
            </a:extLst>
          </p:cNvPr>
          <p:cNvSpPr>
            <a:spLocks noGrp="1" noChangeArrowheads="1"/>
          </p:cNvSpPr>
          <p:nvPr>
            <p:ph idx="1"/>
          </p:nvPr>
        </p:nvSpPr>
        <p:spPr bwMode="auto">
          <a:xfrm>
            <a:off x="589006" y="1380676"/>
            <a:ext cx="109110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Eliminate Physical Queues and Overcrowding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Digitize the canteen ordering process so students can browse the menu and place orders from their devices, reducing peak-hour congestion.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 Real-Time Digital Token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Generate a unique token for each order and update its status from “Preparing” to “Ready” for organized order pickup.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 User-Friendly and Responsive Interface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Design an interactive interface that works smoothly on both mobile and desktop devices using modern web technologies.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QR-Based Digital Payment Simulation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 QR-based UPI payment simulation to make the checkout process faster and reduce cash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Efficient Data Management Without Backend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Store and manage user data, cart details, and order history using client-side storage like local Storage.</a:t>
            </a:r>
          </a:p>
        </p:txBody>
      </p:sp>
    </p:spTree>
    <p:extLst>
      <p:ext uri="{BB962C8B-B14F-4D97-AF65-F5344CB8AC3E}">
        <p14:creationId xmlns:p14="http://schemas.microsoft.com/office/powerpoint/2010/main" val="2135906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918793" y="246278"/>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634313" y="1701842"/>
            <a:ext cx="11150943" cy="4837070"/>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CO1 – Internet Fundamentals, HTML &amp; Introductory CSS:</a:t>
            </a:r>
          </a:p>
          <a:p>
            <a:pPr marL="0" indent="0">
              <a:buNone/>
            </a:pPr>
            <a:r>
              <a:rPr lang="en-IN" sz="2000" dirty="0">
                <a:latin typeface="Times New Roman" panose="02020603050405020304" pitchFamily="18" charset="0"/>
                <a:cs typeface="Times New Roman" panose="02020603050405020304" pitchFamily="18" charset="0"/>
              </a:rPr>
              <a:t>• Developed the webpage using HTML document structure with headings, paragraphs, links, and navigation elements.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Applied CSS styling techniques such as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variables, typography, spacing (margin &amp; padding), and layout design to enhance the user interface.</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CO2 – HTML Forms, Semantic Tags &amp; CSS Layouts:</a:t>
            </a:r>
          </a:p>
          <a:p>
            <a:pPr marL="0" indent="0">
              <a:buNone/>
            </a:pPr>
            <a:r>
              <a:rPr lang="en-IN" sz="2000" dirty="0">
                <a:latin typeface="Times New Roman" panose="02020603050405020304" pitchFamily="18" charset="0"/>
                <a:cs typeface="Times New Roman" panose="02020603050405020304" pitchFamily="18" charset="0"/>
              </a:rPr>
              <a:t>• Implemented HTML forms with input fields, validation attributes, and semantic tags like header, main, section, and footer for structured content.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Designed responsive layouts using CSS Grid, media queries, and CSS animations to create an interactive and adaptive webpage.</a:t>
            </a:r>
          </a:p>
          <a:p>
            <a:pPr marL="457200" lvl="1"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617838" y="807308"/>
            <a:ext cx="11071653" cy="5914167"/>
          </a:xfrm>
        </p:spPr>
        <p:txBody>
          <a:bodyPr>
            <a:normAutofit fontScale="25000" lnSpcReduction="20000"/>
          </a:bodyPr>
          <a:lstStyle/>
          <a:p>
            <a:pPr marL="457200" lvl="1" indent="0">
              <a:buNone/>
            </a:pPr>
            <a:endParaRPr lang="en-IN" dirty="0"/>
          </a:p>
          <a:p>
            <a:pPr marL="0" indent="0">
              <a:lnSpc>
                <a:spcPct val="120000"/>
              </a:lnSpc>
              <a:buNone/>
            </a:pPr>
            <a:r>
              <a:rPr lang="en-IN" sz="7600" b="1" dirty="0">
                <a:latin typeface="Times New Roman" panose="02020603050405020304" pitchFamily="18" charset="0"/>
                <a:cs typeface="Times New Roman" panose="02020603050405020304" pitchFamily="18" charset="0"/>
              </a:rPr>
              <a:t>CO3 – JavaScript Programming Essentials:</a:t>
            </a:r>
          </a:p>
          <a:p>
            <a:pPr marL="0" indent="0">
              <a:lnSpc>
                <a:spcPct val="120000"/>
              </a:lnSpc>
              <a:buNone/>
            </a:pPr>
            <a:r>
              <a:rPr lang="en-IN" sz="7600" dirty="0">
                <a:latin typeface="Times New Roman" panose="02020603050405020304" pitchFamily="18" charset="0"/>
                <a:cs typeface="Times New Roman" panose="02020603050405020304" pitchFamily="18" charset="0"/>
              </a:rPr>
              <a:t>• Used JavaScript functions, conditions, loops, and arrow functions to implement menu selection, cart management, and order processing.</a:t>
            </a:r>
            <a:br>
              <a:rPr lang="en-IN" sz="7600" dirty="0">
                <a:latin typeface="Times New Roman" panose="02020603050405020304" pitchFamily="18" charset="0"/>
                <a:cs typeface="Times New Roman" panose="02020603050405020304" pitchFamily="18" charset="0"/>
              </a:rPr>
            </a:br>
            <a:r>
              <a:rPr lang="en-IN" sz="7600" dirty="0">
                <a:latin typeface="Times New Roman" panose="02020603050405020304" pitchFamily="18" charset="0"/>
                <a:cs typeface="Times New Roman" panose="02020603050405020304" pitchFamily="18" charset="0"/>
              </a:rPr>
              <a:t>• Implemented arrays, objects, and array methods such as map(), filter(), reduce(), and find() for efficient data handling.</a:t>
            </a:r>
          </a:p>
          <a:p>
            <a:pPr marL="0" indent="0">
              <a:lnSpc>
                <a:spcPct val="120000"/>
              </a:lnSpc>
              <a:buNone/>
            </a:pPr>
            <a:r>
              <a:rPr lang="en-IN" sz="7600" b="1" dirty="0">
                <a:latin typeface="Times New Roman" panose="02020603050405020304" pitchFamily="18" charset="0"/>
                <a:cs typeface="Times New Roman" panose="02020603050405020304" pitchFamily="18" charset="0"/>
              </a:rPr>
              <a:t>CO4 – JavaScript Interactivity, DOM &amp; Events:</a:t>
            </a:r>
          </a:p>
          <a:p>
            <a:pPr marL="0" indent="0">
              <a:lnSpc>
                <a:spcPct val="120000"/>
              </a:lnSpc>
              <a:buNone/>
            </a:pPr>
            <a:r>
              <a:rPr lang="en-IN" sz="7600" dirty="0">
                <a:latin typeface="Times New Roman" panose="02020603050405020304" pitchFamily="18" charset="0"/>
                <a:cs typeface="Times New Roman" panose="02020603050405020304" pitchFamily="18" charset="0"/>
              </a:rPr>
              <a:t>• Performed DOM manipulation and event handling to dynamically update menu quantities, cart items, and order status.</a:t>
            </a:r>
            <a:br>
              <a:rPr lang="en-IN" sz="7600" dirty="0">
                <a:latin typeface="Times New Roman" panose="02020603050405020304" pitchFamily="18" charset="0"/>
                <a:cs typeface="Times New Roman" panose="02020603050405020304" pitchFamily="18" charset="0"/>
              </a:rPr>
            </a:br>
            <a:r>
              <a:rPr lang="en-IN" sz="7600" dirty="0">
                <a:latin typeface="Times New Roman" panose="02020603050405020304" pitchFamily="18" charset="0"/>
                <a:cs typeface="Times New Roman" panose="02020603050405020304" pitchFamily="18" charset="0"/>
              </a:rPr>
              <a:t>• Implemented browser storage using </a:t>
            </a:r>
            <a:r>
              <a:rPr lang="en-IN" sz="7600" dirty="0" err="1">
                <a:latin typeface="Times New Roman" panose="02020603050405020304" pitchFamily="18" charset="0"/>
                <a:cs typeface="Times New Roman" panose="02020603050405020304" pitchFamily="18" charset="0"/>
              </a:rPr>
              <a:t>localStorage</a:t>
            </a:r>
            <a:r>
              <a:rPr lang="en-IN" sz="7600" dirty="0">
                <a:latin typeface="Times New Roman" panose="02020603050405020304" pitchFamily="18" charset="0"/>
                <a:cs typeface="Times New Roman" panose="02020603050405020304" pitchFamily="18" charset="0"/>
              </a:rPr>
              <a:t> and asynchronous programming with Fetch API, async/await, and promises.</a:t>
            </a:r>
          </a:p>
          <a:p>
            <a:pPr marL="0" indent="0">
              <a:lnSpc>
                <a:spcPct val="120000"/>
              </a:lnSpc>
              <a:buNone/>
            </a:pPr>
            <a:r>
              <a:rPr lang="en-IN" sz="7600" b="1" dirty="0">
                <a:latin typeface="Times New Roman" panose="02020603050405020304" pitchFamily="18" charset="0"/>
                <a:cs typeface="Times New Roman" panose="02020603050405020304" pitchFamily="18" charset="0"/>
              </a:rPr>
              <a:t>CO5 – Advanced Web Development &amp; Deployment:</a:t>
            </a:r>
          </a:p>
          <a:p>
            <a:pPr marL="0" indent="0">
              <a:lnSpc>
                <a:spcPct val="120000"/>
              </a:lnSpc>
              <a:buNone/>
            </a:pPr>
            <a:r>
              <a:rPr lang="en-IN" sz="7600" dirty="0">
                <a:latin typeface="Times New Roman" panose="02020603050405020304" pitchFamily="18" charset="0"/>
                <a:cs typeface="Times New Roman" panose="02020603050405020304" pitchFamily="18" charset="0"/>
              </a:rPr>
              <a:t>• Integrated JavaScript form validation and API integration to enhance user input handling and dynamic content loading.</a:t>
            </a:r>
            <a:br>
              <a:rPr lang="en-IN" sz="7600" dirty="0">
                <a:latin typeface="Times New Roman" panose="02020603050405020304" pitchFamily="18" charset="0"/>
                <a:cs typeface="Times New Roman" panose="02020603050405020304" pitchFamily="18" charset="0"/>
              </a:rPr>
            </a:br>
            <a:r>
              <a:rPr lang="en-IN" sz="7600" dirty="0">
                <a:latin typeface="Times New Roman" panose="02020603050405020304" pitchFamily="18" charset="0"/>
                <a:cs typeface="Times New Roman" panose="02020603050405020304" pitchFamily="18" charset="0"/>
              </a:rPr>
              <a:t>• Implemented SEO-friendly meta tags and persistent data storage to improve web accessibility and maintain user data.</a:t>
            </a:r>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558111" y="304800"/>
            <a:ext cx="10515600" cy="851287"/>
          </a:xfrm>
        </p:spPr>
        <p:txBody>
          <a:bodyPr/>
          <a:lstStyle/>
          <a:p>
            <a:pPr algn="ctr"/>
            <a:r>
              <a:rPr lang="en-US" dirty="0"/>
              <a:t>Screenshots for FWD</a:t>
            </a:r>
          </a:p>
        </p:txBody>
      </p:sp>
      <p:pic>
        <p:nvPicPr>
          <p:cNvPr id="8" name="Content Placeholder 7">
            <a:extLst>
              <a:ext uri="{FF2B5EF4-FFF2-40B4-BE49-F238E27FC236}">
                <a16:creationId xmlns:a16="http://schemas.microsoft.com/office/drawing/2014/main" id="{E29EAF47-7C28-545B-F9AC-0500B7AE3DEC}"/>
              </a:ext>
            </a:extLst>
          </p:cNvPr>
          <p:cNvPicPr>
            <a:picLocks noGrp="1" noChangeAspect="1"/>
          </p:cNvPicPr>
          <p:nvPr>
            <p:ph idx="1"/>
          </p:nvPr>
        </p:nvPicPr>
        <p:blipFill>
          <a:blip r:embed="rId2"/>
          <a:srcRect l="3172" r="6878" b="7203"/>
          <a:stretch>
            <a:fillRect/>
          </a:stretch>
        </p:blipFill>
        <p:spPr>
          <a:xfrm>
            <a:off x="82379" y="1458095"/>
            <a:ext cx="5631248" cy="36038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0" name="Picture 9">
            <a:extLst>
              <a:ext uri="{FF2B5EF4-FFF2-40B4-BE49-F238E27FC236}">
                <a16:creationId xmlns:a16="http://schemas.microsoft.com/office/drawing/2014/main" id="{06379B24-59A6-16C1-026F-6045C91B799C}"/>
              </a:ext>
            </a:extLst>
          </p:cNvPr>
          <p:cNvPicPr>
            <a:picLocks noChangeAspect="1"/>
          </p:cNvPicPr>
          <p:nvPr/>
        </p:nvPicPr>
        <p:blipFill>
          <a:blip r:embed="rId3"/>
          <a:stretch>
            <a:fillRect/>
          </a:stretch>
        </p:blipFill>
        <p:spPr>
          <a:xfrm>
            <a:off x="5873577" y="1458095"/>
            <a:ext cx="6161903" cy="36038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CD37611-300A-FC7F-F278-455ABA98B603}"/>
              </a:ext>
            </a:extLst>
          </p:cNvPr>
          <p:cNvPicPr>
            <a:picLocks noGrp="1" noChangeAspect="1"/>
          </p:cNvPicPr>
          <p:nvPr>
            <p:ph idx="1"/>
          </p:nvPr>
        </p:nvPicPr>
        <p:blipFill>
          <a:blip r:embed="rId2"/>
          <a:stretch>
            <a:fillRect/>
          </a:stretch>
        </p:blipFill>
        <p:spPr>
          <a:xfrm>
            <a:off x="90616" y="800841"/>
            <a:ext cx="6778366" cy="39441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Date Placeholder 3">
            <a:extLst>
              <a:ext uri="{FF2B5EF4-FFF2-40B4-BE49-F238E27FC236}">
                <a16:creationId xmlns:a16="http://schemas.microsoft.com/office/drawing/2014/main" id="{2BEFA686-AC08-8118-F45F-4D269A4FA2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8496FC18-4AB3-DAED-D7EE-08B60944BAF6}"/>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683419AA-47AA-BA2B-E9EA-C9D937C1144F}"/>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10" name="Picture 9">
            <a:extLst>
              <a:ext uri="{FF2B5EF4-FFF2-40B4-BE49-F238E27FC236}">
                <a16:creationId xmlns:a16="http://schemas.microsoft.com/office/drawing/2014/main" id="{66D778EF-8091-F43E-2A07-B929A2880FA0}"/>
              </a:ext>
            </a:extLst>
          </p:cNvPr>
          <p:cNvPicPr>
            <a:picLocks noChangeAspect="1"/>
          </p:cNvPicPr>
          <p:nvPr/>
        </p:nvPicPr>
        <p:blipFill>
          <a:blip r:embed="rId3"/>
          <a:stretch>
            <a:fillRect/>
          </a:stretch>
        </p:blipFill>
        <p:spPr>
          <a:xfrm>
            <a:off x="5857102" y="3099840"/>
            <a:ext cx="6244282" cy="36216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57911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8457B71-29FD-9593-40C0-A87BA2F71B2A}"/>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F6216846-5DD1-062D-04E6-78D6682A2A8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67ECDA7-6131-1A8C-63B3-B7B0E2C43250}"/>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2" name="Picture 11">
            <a:extLst>
              <a:ext uri="{FF2B5EF4-FFF2-40B4-BE49-F238E27FC236}">
                <a16:creationId xmlns:a16="http://schemas.microsoft.com/office/drawing/2014/main" id="{27A4E708-F84E-0054-0659-290145031504}"/>
              </a:ext>
            </a:extLst>
          </p:cNvPr>
          <p:cNvPicPr>
            <a:picLocks noChangeAspect="1"/>
          </p:cNvPicPr>
          <p:nvPr/>
        </p:nvPicPr>
        <p:blipFill>
          <a:blip r:embed="rId2"/>
          <a:stretch>
            <a:fillRect/>
          </a:stretch>
        </p:blipFill>
        <p:spPr>
          <a:xfrm>
            <a:off x="288324" y="755221"/>
            <a:ext cx="6417275" cy="31386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813B59D4-E9B9-C831-3108-92E6662BC50C}"/>
              </a:ext>
            </a:extLst>
          </p:cNvPr>
          <p:cNvPicPr>
            <a:picLocks noChangeAspect="1"/>
          </p:cNvPicPr>
          <p:nvPr/>
        </p:nvPicPr>
        <p:blipFill>
          <a:blip r:embed="rId3"/>
          <a:stretch>
            <a:fillRect/>
          </a:stretch>
        </p:blipFill>
        <p:spPr>
          <a:xfrm>
            <a:off x="7035114" y="755221"/>
            <a:ext cx="4784123" cy="31386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40F46278-9F32-4ADA-0CBB-A42D3AAF2261}"/>
              </a:ext>
            </a:extLst>
          </p:cNvPr>
          <p:cNvPicPr>
            <a:picLocks noChangeAspect="1"/>
          </p:cNvPicPr>
          <p:nvPr/>
        </p:nvPicPr>
        <p:blipFill>
          <a:blip r:embed="rId4"/>
          <a:stretch>
            <a:fillRect/>
          </a:stretch>
        </p:blipFill>
        <p:spPr>
          <a:xfrm>
            <a:off x="383059" y="4172473"/>
            <a:ext cx="4795345" cy="25490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003283E3-7A53-BC06-98AE-FC964C874EAD}"/>
              </a:ext>
            </a:extLst>
          </p:cNvPr>
          <p:cNvPicPr>
            <a:picLocks noChangeAspect="1"/>
          </p:cNvPicPr>
          <p:nvPr/>
        </p:nvPicPr>
        <p:blipFill>
          <a:blip r:embed="rId5"/>
          <a:stretch>
            <a:fillRect/>
          </a:stretch>
        </p:blipFill>
        <p:spPr>
          <a:xfrm>
            <a:off x="5401962" y="4234858"/>
            <a:ext cx="6417275" cy="24058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77173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838200" y="266329"/>
            <a:ext cx="9599141" cy="84025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15</a:t>
            </a:fld>
            <a:endParaRPr lang="en-US"/>
          </a:p>
        </p:txBody>
      </p:sp>
      <p:sp>
        <p:nvSpPr>
          <p:cNvPr id="2" name="Content Placeholder 1">
            <a:extLst>
              <a:ext uri="{FF2B5EF4-FFF2-40B4-BE49-F238E27FC236}">
                <a16:creationId xmlns:a16="http://schemas.microsoft.com/office/drawing/2014/main" id="{638C1ACD-5D2E-3E3D-67DF-6FD879D39368}"/>
              </a:ext>
            </a:extLst>
          </p:cNvPr>
          <p:cNvSpPr>
            <a:spLocks noGrp="1" noChangeArrowheads="1"/>
          </p:cNvSpPr>
          <p:nvPr>
            <p:ph idx="1"/>
          </p:nvPr>
        </p:nvSpPr>
        <p:spPr bwMode="auto">
          <a:xfrm>
            <a:off x="582827" y="1322499"/>
            <a:ext cx="10711250" cy="4602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successfully demonstrates the use of HTML, CSS, and JavaScript to build an interactive web application.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provides a user-friendly interface for viewing menu items and placing orders efficiently.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shows how JavaScript can be used for dynamic features like cart management and order processing.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Proper use of structured design and styling improves the overall user experience and responsiveness.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helps in understanding practical web development concepts and their real-world applications.</a:t>
            </a:r>
          </a:p>
        </p:txBody>
      </p:sp>
    </p:spTree>
    <p:extLst>
      <p:ext uri="{BB962C8B-B14F-4D97-AF65-F5344CB8AC3E}">
        <p14:creationId xmlns:p14="http://schemas.microsoft.com/office/powerpoint/2010/main" val="285891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1325262" y="24713"/>
            <a:ext cx="9236676" cy="784275"/>
          </a:xfrm>
        </p:spPr>
        <p:txBody>
          <a:bodyPr/>
          <a:lstStyle/>
          <a:p>
            <a:pPr algn="ctr"/>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11" name="Content Placeholder 10">
            <a:extLst>
              <a:ext uri="{FF2B5EF4-FFF2-40B4-BE49-F238E27FC236}">
                <a16:creationId xmlns:a16="http://schemas.microsoft.com/office/drawing/2014/main" id="{6A1FE38A-01C9-0B72-48CC-9E88F61DC898}"/>
              </a:ext>
            </a:extLst>
          </p:cNvPr>
          <p:cNvPicPr>
            <a:picLocks noGrp="1" noChangeAspect="1"/>
          </p:cNvPicPr>
          <p:nvPr>
            <p:ph idx="1"/>
          </p:nvPr>
        </p:nvPicPr>
        <p:blipFill rotWithShape="1">
          <a:blip r:embed="rId2"/>
          <a:srcRect t="22557" b="2114"/>
          <a:stretch>
            <a:fillRect/>
          </a:stretch>
        </p:blipFill>
        <p:spPr bwMode="auto">
          <a:xfrm>
            <a:off x="256771" y="899001"/>
            <a:ext cx="5839229" cy="54573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AutoShape 8">
            <a:extLst>
              <a:ext uri="{FF2B5EF4-FFF2-40B4-BE49-F238E27FC236}">
                <a16:creationId xmlns:a16="http://schemas.microsoft.com/office/drawing/2014/main" id="{936FF86D-BECA-01D9-C1EC-4E1DDB691AF8}"/>
              </a:ext>
            </a:extLst>
          </p:cNvPr>
          <p:cNvSpPr>
            <a:spLocks noChangeAspect="1" noChangeArrowheads="1"/>
          </p:cNvSpPr>
          <p:nvPr/>
        </p:nvSpPr>
        <p:spPr bwMode="auto">
          <a:xfrm>
            <a:off x="5943600" y="3276600"/>
            <a:ext cx="2376616"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AutoShape 10">
            <a:extLst>
              <a:ext uri="{FF2B5EF4-FFF2-40B4-BE49-F238E27FC236}">
                <a16:creationId xmlns:a16="http://schemas.microsoft.com/office/drawing/2014/main" id="{A69DB4A2-56BB-6286-6BC5-0271EACDCE4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E70B3F70-9F36-444D-4720-11BB622F5792}"/>
              </a:ext>
            </a:extLst>
          </p:cNvPr>
          <p:cNvPicPr>
            <a:picLocks noChangeAspect="1"/>
          </p:cNvPicPr>
          <p:nvPr/>
        </p:nvPicPr>
        <p:blipFill>
          <a:blip r:embed="rId3"/>
          <a:srcRect t="40621"/>
          <a:stretch>
            <a:fillRect/>
          </a:stretch>
        </p:blipFill>
        <p:spPr>
          <a:xfrm>
            <a:off x="6368618" y="1542535"/>
            <a:ext cx="5421521" cy="40777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57471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5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17</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4230</TotalTime>
  <Words>1382</Words>
  <Application>Microsoft Office PowerPoint</Application>
  <PresentationFormat>Widescreen</PresentationFormat>
  <Paragraphs>128</Paragraphs>
  <Slides>17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Calibri Light</vt:lpstr>
      <vt:lpstr>Times New Roman</vt:lpstr>
      <vt:lpstr>Office Theme</vt:lpstr>
      <vt:lpstr>Custom Design</vt:lpstr>
      <vt:lpstr>Title: SMART COLLEGE CANTEEN PRE-ORDER SYSTEM</vt:lpstr>
      <vt:lpstr>OUTLINE</vt:lpstr>
      <vt:lpstr>Abstract</vt:lpstr>
      <vt:lpstr>Existing System </vt:lpstr>
      <vt:lpstr>Proposed System</vt:lpstr>
      <vt:lpstr>System Architecture</vt:lpstr>
      <vt:lpstr>Project Modules</vt:lpstr>
      <vt:lpstr>Project Modules</vt:lpstr>
      <vt:lpstr>Objectives</vt:lpstr>
      <vt:lpstr>Co’s Attainments - FWD</vt:lpstr>
      <vt:lpstr>PowerPoint Presentation</vt:lpstr>
      <vt:lpstr>Screenshots for FWD</vt:lpstr>
      <vt:lpstr>PowerPoint Presentation</vt:lpstr>
      <vt:lpstr>PowerPoint Presentation</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jahnavigoka@outlook.com</cp:lastModifiedBy>
  <cp:revision>56</cp:revision>
  <dcterms:created xsi:type="dcterms:W3CDTF">2022-05-20T10:20:31Z</dcterms:created>
  <dcterms:modified xsi:type="dcterms:W3CDTF">2026-03-10T07:27:42Z</dcterms:modified>
</cp:coreProperties>
</file>